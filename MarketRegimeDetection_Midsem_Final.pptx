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7" r:id="rId2"/>
    <p:sldId id="260" r:id="rId3"/>
    <p:sldId id="264" r:id="rId4"/>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39F691-A225-450C-BD8C-7FCF826521BF}" type="datetimeFigureOut">
              <a:rPr lang="en-IN" smtClean="0"/>
              <a:t>08-02-2026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223FA1-4510-41DD-9631-7B540903E10B}" type="slidenum">
              <a:rPr lang="en-IN" smtClean="0"/>
              <a:t>‹#›</a:t>
            </a:fld>
            <a:endParaRPr lang="en-IN"/>
          </a:p>
        </p:txBody>
      </p:sp>
    </p:spTree>
    <p:extLst>
      <p:ext uri="{BB962C8B-B14F-4D97-AF65-F5344CB8AC3E}">
        <p14:creationId xmlns:p14="http://schemas.microsoft.com/office/powerpoint/2010/main" val="757600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55F37F-3E36-4677-88FE-31D08A695D7A}" type="slidenum">
              <a:rPr lang="en-IN" smtClean="0"/>
              <a:t>1</a:t>
            </a:fld>
            <a:endParaRPr lang="en-IN"/>
          </a:p>
        </p:txBody>
      </p:sp>
    </p:spTree>
    <p:extLst>
      <p:ext uri="{BB962C8B-B14F-4D97-AF65-F5344CB8AC3E}">
        <p14:creationId xmlns:p14="http://schemas.microsoft.com/office/powerpoint/2010/main" val="1476836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55F37F-3E36-4677-88FE-31D08A695D7A}" type="slidenum">
              <a:rPr lang="en-IN" smtClean="0"/>
              <a:t>2</a:t>
            </a:fld>
            <a:endParaRPr lang="en-IN"/>
          </a:p>
        </p:txBody>
      </p:sp>
    </p:spTree>
    <p:extLst>
      <p:ext uri="{BB962C8B-B14F-4D97-AF65-F5344CB8AC3E}">
        <p14:creationId xmlns:p14="http://schemas.microsoft.com/office/powerpoint/2010/main" val="1135442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D1542-9B70-BC2B-9F08-140B74A80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FF4D2-6C80-A2CC-EAED-B3641FDAE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753C5-02B9-7A15-D8E5-BE6B6885B2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577CC0-21EA-AF6F-1F6D-58296E6BC7E2}"/>
              </a:ext>
            </a:extLst>
          </p:cNvPr>
          <p:cNvSpPr>
            <a:spLocks noGrp="1"/>
          </p:cNvSpPr>
          <p:nvPr>
            <p:ph type="sldNum" sz="quarter" idx="5"/>
          </p:nvPr>
        </p:nvSpPr>
        <p:spPr/>
        <p:txBody>
          <a:bodyPr/>
          <a:lstStyle/>
          <a:p>
            <a:fld id="{E755F37F-3E36-4677-88FE-31D08A695D7A}" type="slidenum">
              <a:rPr lang="en-IN" smtClean="0"/>
              <a:t>3</a:t>
            </a:fld>
            <a:endParaRPr lang="en-IN"/>
          </a:p>
        </p:txBody>
      </p:sp>
    </p:spTree>
    <p:extLst>
      <p:ext uri="{BB962C8B-B14F-4D97-AF65-F5344CB8AC3E}">
        <p14:creationId xmlns:p14="http://schemas.microsoft.com/office/powerpoint/2010/main" val="172473848"/>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6790-5258-C145-D078-37EE5CC521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26020DC-7466-A932-B5FA-02504A6C54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4145FF-9210-F2C1-2448-37141AFD8706}"/>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5" name="Footer Placeholder 4">
            <a:extLst>
              <a:ext uri="{FF2B5EF4-FFF2-40B4-BE49-F238E27FC236}">
                <a16:creationId xmlns:a16="http://schemas.microsoft.com/office/drawing/2014/main" id="{0AE663A9-C6FB-8B24-3018-AE57F9471E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794637-0C6A-4C97-5C22-A059280B4113}"/>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2506847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23063-87C4-8E7E-EDE2-88DE01BCE5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BFDB1-38E2-468C-0A73-6059269ABA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2E457A-72C0-32BE-2FD3-E16E91E6527B}"/>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5" name="Footer Placeholder 4">
            <a:extLst>
              <a:ext uri="{FF2B5EF4-FFF2-40B4-BE49-F238E27FC236}">
                <a16:creationId xmlns:a16="http://schemas.microsoft.com/office/drawing/2014/main" id="{032C26AB-B608-AFAC-CCC2-D8B214815B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95575-427B-7133-65D0-702AB362028A}"/>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899590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EB22-96B6-81F7-6D6F-487FB59B8D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41C2EC-FA6A-2D32-4DF2-F6DCCFBBB7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E45FA3-C4A6-C2D4-A9AC-8652502374E7}"/>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5" name="Footer Placeholder 4">
            <a:extLst>
              <a:ext uri="{FF2B5EF4-FFF2-40B4-BE49-F238E27FC236}">
                <a16:creationId xmlns:a16="http://schemas.microsoft.com/office/drawing/2014/main" id="{D795C888-DF0E-D9CA-7264-6175C90BF1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8EE776-0052-6FD7-B61F-AA2FE0351605}"/>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2637794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C8AA-9EB5-191E-7541-991C23028E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AFCB25-E3DE-6052-09A8-C8CAFAF138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2B8FC9-6F15-38F0-8007-37DB8CEC74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1EF501-287E-8F1C-53BA-8B1500C69E50}"/>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6" name="Footer Placeholder 5">
            <a:extLst>
              <a:ext uri="{FF2B5EF4-FFF2-40B4-BE49-F238E27FC236}">
                <a16:creationId xmlns:a16="http://schemas.microsoft.com/office/drawing/2014/main" id="{4398696C-51B6-C08E-EEC1-D7C7A55573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C9DC0C-BBD7-BFAA-B152-28674868BFB6}"/>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241825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121B5-79D2-7B2C-C791-FC9EB7A53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9014B-FC33-EAB4-4576-3526FA455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0C5677-1842-69A9-D4B5-D4A0FFB6D2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C29F86-DE07-2ED6-657E-8259CA248C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AE6AFB-0038-3F21-DDAB-EE8E4BC45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966D04-368B-E3A4-2DC9-79A354C47967}"/>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8" name="Footer Placeholder 7">
            <a:extLst>
              <a:ext uri="{FF2B5EF4-FFF2-40B4-BE49-F238E27FC236}">
                <a16:creationId xmlns:a16="http://schemas.microsoft.com/office/drawing/2014/main" id="{7BFAC324-72A1-38EF-DC80-0D553F9DCB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A3A865-3F86-DD39-018C-22B620F0EB79}"/>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1473391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1F2E9-AD77-E82D-BE8E-6634C01338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F0B881-A83D-ADE6-2B07-8AB042153CDA}"/>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4" name="Footer Placeholder 3">
            <a:extLst>
              <a:ext uri="{FF2B5EF4-FFF2-40B4-BE49-F238E27FC236}">
                <a16:creationId xmlns:a16="http://schemas.microsoft.com/office/drawing/2014/main" id="{296330C8-78D8-7CAD-06FD-26630EA473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30A805-3384-5B28-461D-F07758DD787C}"/>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998540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EAC3F3-EA2B-7051-58C8-A702D0A4A330}"/>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3" name="Footer Placeholder 2">
            <a:extLst>
              <a:ext uri="{FF2B5EF4-FFF2-40B4-BE49-F238E27FC236}">
                <a16:creationId xmlns:a16="http://schemas.microsoft.com/office/drawing/2014/main" id="{28D31288-FDFD-FA96-A76B-F0E478B814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32917A-9840-75D8-7279-0644973026A8}"/>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723091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89FA-7377-BD9D-19DC-0265D425A0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C4E79A-3B40-0511-5F1F-28FB7BB94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337721-91D2-F6A3-D38C-4BDC0884E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EE24A1-2BEA-95E8-3ED6-B97400EA2549}"/>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6" name="Footer Placeholder 5">
            <a:extLst>
              <a:ext uri="{FF2B5EF4-FFF2-40B4-BE49-F238E27FC236}">
                <a16:creationId xmlns:a16="http://schemas.microsoft.com/office/drawing/2014/main" id="{2596BA76-77D4-E443-6831-96FB42667F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1EB9D8-7E45-7003-282C-CE99BD73CDB4}"/>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49637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D5A76-A7A8-FBC7-C740-34FB701BCC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970D87-E5F9-27A6-DE67-1DF33FCD62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B803AF-B348-1A9A-3A95-2560FFB91A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179B81-9429-0ACC-35BB-ECE333BEE251}"/>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6" name="Footer Placeholder 5">
            <a:extLst>
              <a:ext uri="{FF2B5EF4-FFF2-40B4-BE49-F238E27FC236}">
                <a16:creationId xmlns:a16="http://schemas.microsoft.com/office/drawing/2014/main" id="{7EDDAE19-1CE7-EFC7-0531-5C95945620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D61CEE-0982-830E-2150-28928DED4D97}"/>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1164840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78F4-F53F-B78F-AC2F-8B513D826F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DCCAC2-7892-EB75-8B95-74E62A6C2A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F6B09-E76A-84D6-92D8-F5DA5A8F6E2F}"/>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5" name="Footer Placeholder 4">
            <a:extLst>
              <a:ext uri="{FF2B5EF4-FFF2-40B4-BE49-F238E27FC236}">
                <a16:creationId xmlns:a16="http://schemas.microsoft.com/office/drawing/2014/main" id="{00754480-0DA9-C12C-ABE6-9334E9C9FA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20ED4C-2F5B-B52A-9B44-D5948E7C935E}"/>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3549579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99C509-7E72-525B-CFD7-E9B843EC89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4230E8-FC19-32D5-50D5-94D4BB305E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C01C7-6E3C-506A-1F03-86833DE13CA4}"/>
              </a:ext>
            </a:extLst>
          </p:cNvPr>
          <p:cNvSpPr>
            <a:spLocks noGrp="1"/>
          </p:cNvSpPr>
          <p:nvPr>
            <p:ph type="dt" sz="half" idx="10"/>
          </p:nvPr>
        </p:nvSpPr>
        <p:spPr/>
        <p:txBody>
          <a:bodyPr/>
          <a:lstStyle/>
          <a:p>
            <a:fld id="{4769FD05-0299-461C-8121-9386E0C8B94B}" type="datetimeFigureOut">
              <a:rPr lang="en-IN" smtClean="0"/>
              <a:t>08-02-2026</a:t>
            </a:fld>
            <a:endParaRPr lang="en-IN"/>
          </a:p>
        </p:txBody>
      </p:sp>
      <p:sp>
        <p:nvSpPr>
          <p:cNvPr id="5" name="Footer Placeholder 4">
            <a:extLst>
              <a:ext uri="{FF2B5EF4-FFF2-40B4-BE49-F238E27FC236}">
                <a16:creationId xmlns:a16="http://schemas.microsoft.com/office/drawing/2014/main" id="{EED0F01C-A5AF-EAD1-C23E-40F4A6A9CD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0062DB-14AB-3DFE-A728-D5CA2123B584}"/>
              </a:ext>
            </a:extLst>
          </p:cNvPr>
          <p:cNvSpPr>
            <a:spLocks noGrp="1"/>
          </p:cNvSpPr>
          <p:nvPr>
            <p:ph type="sldNum" sz="quarter" idx="12"/>
          </p:nvPr>
        </p:nvSpPr>
        <p:spPr/>
        <p:txBody>
          <a:bodyPr/>
          <a:lstStyle/>
          <a:p>
            <a:fld id="{B53843E3-566C-4A59-9F0F-5BE5C8F19EC5}" type="slidenum">
              <a:rPr lang="en-IN" smtClean="0"/>
              <a:t>‹#›</a:t>
            </a:fld>
            <a:endParaRPr lang="en-IN"/>
          </a:p>
        </p:txBody>
      </p:sp>
    </p:spTree>
    <p:extLst>
      <p:ext uri="{BB962C8B-B14F-4D97-AF65-F5344CB8AC3E}">
        <p14:creationId xmlns:p14="http://schemas.microsoft.com/office/powerpoint/2010/main" val="1909875538"/>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0C1BE1-9A9E-F8E4-25ED-A4E65918AB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38A641-BDA0-5476-5D78-A47CB40B6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0A3A7E-CA78-393E-4CBB-2FC1984B82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69FD05-0299-461C-8121-9386E0C8B94B}" type="datetimeFigureOut">
              <a:rPr lang="en-IN" smtClean="0"/>
              <a:t>08-02-2026</a:t>
            </a:fld>
            <a:endParaRPr lang="en-IN"/>
          </a:p>
        </p:txBody>
      </p:sp>
      <p:sp>
        <p:nvSpPr>
          <p:cNvPr id="5" name="Footer Placeholder 4">
            <a:extLst>
              <a:ext uri="{FF2B5EF4-FFF2-40B4-BE49-F238E27FC236}">
                <a16:creationId xmlns:a16="http://schemas.microsoft.com/office/drawing/2014/main" id="{70608830-DD7D-8DF0-C90F-DB7D4340D2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9D0242-EABB-C512-2E6A-711E665CE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843E3-566C-4A59-9F0F-5BE5C8F19EC5}" type="slidenum">
              <a:rPr lang="en-IN" smtClean="0"/>
              <a:t>‹#›</a:t>
            </a:fld>
            <a:endParaRPr lang="en-IN"/>
          </a:p>
        </p:txBody>
      </p:sp>
    </p:spTree>
    <p:extLst>
      <p:ext uri="{BB962C8B-B14F-4D97-AF65-F5344CB8AC3E}">
        <p14:creationId xmlns:p14="http://schemas.microsoft.com/office/powerpoint/2010/main" val="675069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B4E15D-7C0F-103D-C652-7FEDA4F33FA5}"/>
              </a:ext>
            </a:extLst>
          </p:cNvPr>
          <p:cNvSpPr>
            <a:spLocks noGrp="1"/>
          </p:cNvSpPr>
          <p:nvPr>
            <p:ph idx="1"/>
          </p:nvPr>
        </p:nvSpPr>
        <p:spPr>
          <a:xfrm>
            <a:off x="495300" y="1262107"/>
            <a:ext cx="11468100" cy="4859294"/>
          </a:xfrm>
        </p:spPr>
        <p:txBody>
          <a:bodyPr>
            <a:normAutofit/>
          </a:bodyPr>
          <a:lstStyle/>
          <a:p>
            <a:r>
              <a:rPr lang="en-IN" b="1" dirty="0">
                <a:latin typeface="Calibri (Body)"/>
              </a:rPr>
              <a:t>Introduction:</a:t>
            </a:r>
          </a:p>
          <a:p>
            <a:pPr>
              <a:buFont typeface="Wingdings" panose="05000000000000000000" pitchFamily="2" charset="2"/>
              <a:buChar char="§"/>
            </a:pPr>
            <a:r>
              <a:rPr lang="en-IN" dirty="0">
                <a:latin typeface="Calibri (Body)"/>
              </a:rPr>
              <a:t>Financial markets constantly shift between different conditions such as growth, decline, and high uncertainty, commonly known as market regimes. Correctly identifying these regimes is important for risk management, portfolio allocation, and trading strategy design because it allows investors and automated systems to adjust decisions as market conditions change.</a:t>
            </a:r>
          </a:p>
          <a:p>
            <a:pPr>
              <a:buFont typeface="Wingdings" panose="05000000000000000000" pitchFamily="2" charset="2"/>
              <a:buChar char="§"/>
            </a:pPr>
            <a:r>
              <a:rPr lang="en-IN" dirty="0">
                <a:latin typeface="Calibri (Body)"/>
              </a:rPr>
              <a:t>Hidden Markov Model (HMM) assumes that markets are driven by hidden states that cannot be directly observed but must be inferred from observable data like returns or volatility. In financial markets, these hidden states represent regimes such as bull markets, bear markets, or high-volatility periods. The model learns the statistical behavior of each regime and how likely markets are to transition between them. Using algorithms such as the Viterbi algorithm, it can label each historical time period with the most probable market state.</a:t>
            </a:r>
          </a:p>
          <a:p>
            <a:pPr>
              <a:buFont typeface="Wingdings" panose="05000000000000000000" pitchFamily="2" charset="2"/>
              <a:buChar char="§"/>
            </a:pPr>
            <a:r>
              <a:rPr lang="en-IN" dirty="0">
                <a:latin typeface="Calibri (Body)"/>
              </a:rPr>
              <a:t>However, traditional HMM approaches have several limitations. They usually rely on manually engineered features from a single asset, which ignores signals from other important markets like bonds, commodities, or volatility indices. In addition, HMM has limited ability to capture long-term sequential patterns and complex nonlinear relationships, which makes it less effective at modeling the true dynamics of modern financial markets.</a:t>
            </a:r>
          </a:p>
          <a:p>
            <a:pPr marL="0" indent="0">
              <a:buNone/>
            </a:pPr>
            <a:endParaRPr lang="en-IN" dirty="0">
              <a:latin typeface="Calibri (Body)"/>
            </a:endParaRPr>
          </a:p>
        </p:txBody>
      </p:sp>
      <p:sp>
        <p:nvSpPr>
          <p:cNvPr id="26" name="Title 1">
            <a:extLst>
              <a:ext uri="{FF2B5EF4-FFF2-40B4-BE49-F238E27FC236}">
                <a16:creationId xmlns:a16="http://schemas.microsoft.com/office/drawing/2014/main" id="{EA836EDB-ED8F-3296-E9A3-25FEA0F16EBC}"/>
              </a:ext>
            </a:extLst>
          </p:cNvPr>
          <p:cNvSpPr txBox="1">
            <a:spLocks/>
          </p:cNvSpPr>
          <p:nvPr/>
        </p:nvSpPr>
        <p:spPr>
          <a:xfrm>
            <a:off x="0" y="-4116"/>
            <a:ext cx="12192000" cy="1117645"/>
          </a:xfrm>
          <a:prstGeom prst="rect">
            <a:avLst/>
          </a:prstGeom>
          <a:solidFill>
            <a:schemeClr val="accent5">
              <a:lumMod val="75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chemeClr val="bg1"/>
                </a:solidFill>
              </a:rPr>
              <a:t>Deep Learning-Enhanced Financial Market Regime Detection</a:t>
            </a:r>
          </a:p>
        </p:txBody>
      </p:sp>
      <p:pic>
        <p:nvPicPr>
          <p:cNvPr id="6" name="Picture 5" descr="A blue and white logo  AI-generated content may be incorrect.">
            <a:extLst>
              <a:ext uri="{FF2B5EF4-FFF2-40B4-BE49-F238E27FC236}">
                <a16:creationId xmlns:a16="http://schemas.microsoft.com/office/drawing/2014/main" id="{4143F702-3024-9C8E-72C2-2C3DF86EFD87}"/>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064145" y="-8877"/>
            <a:ext cx="1127848" cy="1128532"/>
          </a:xfrm>
          <a:prstGeom prst="rect">
            <a:avLst/>
          </a:prstGeom>
        </p:spPr>
      </p:pic>
    </p:spTree>
    <p:extLst>
      <p:ext uri="{BB962C8B-B14F-4D97-AF65-F5344CB8AC3E}">
        <p14:creationId xmlns:p14="http://schemas.microsoft.com/office/powerpoint/2010/main" val="1001574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8C635D8-8C28-BD2F-1F1E-E2E48CB6EE77}"/>
              </a:ext>
            </a:extLst>
          </p:cNvPr>
          <p:cNvGrpSpPr/>
          <p:nvPr/>
        </p:nvGrpSpPr>
        <p:grpSpPr>
          <a:xfrm>
            <a:off x="0" y="-8877"/>
            <a:ext cx="12192000" cy="1128532"/>
            <a:chOff x="0" y="1"/>
            <a:chExt cx="12192000" cy="1128532"/>
          </a:xfrm>
        </p:grpSpPr>
        <p:sp>
          <p:nvSpPr>
            <p:cNvPr id="7" name="Title 1">
              <a:extLst>
                <a:ext uri="{FF2B5EF4-FFF2-40B4-BE49-F238E27FC236}">
                  <a16:creationId xmlns:a16="http://schemas.microsoft.com/office/drawing/2014/main" id="{9D0A2EE0-154E-E948-B676-9A0EC519C2E9}"/>
                </a:ext>
              </a:extLst>
            </p:cNvPr>
            <p:cNvSpPr txBox="1">
              <a:spLocks/>
            </p:cNvSpPr>
            <p:nvPr/>
          </p:nvSpPr>
          <p:spPr>
            <a:xfrm>
              <a:off x="0" y="4762"/>
              <a:ext cx="12192000" cy="1117645"/>
            </a:xfrm>
            <a:prstGeom prst="rect">
              <a:avLst/>
            </a:prstGeom>
            <a:solidFill>
              <a:schemeClr val="accent5">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Deep Learning-Enhanced Financial Market Regime Detection</a:t>
              </a:r>
            </a:p>
          </p:txBody>
        </p:sp>
        <p:pic>
          <p:nvPicPr>
            <p:cNvPr id="8" name="Picture 7" descr="A blue and white logo  AI-generated content may be incorrect.">
              <a:extLst>
                <a:ext uri="{FF2B5EF4-FFF2-40B4-BE49-F238E27FC236}">
                  <a16:creationId xmlns:a16="http://schemas.microsoft.com/office/drawing/2014/main" id="{0CA020E2-B0BE-DCB2-B3B3-3798AA4290FF}"/>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064145" y="1"/>
              <a:ext cx="1127848" cy="1128532"/>
            </a:xfrm>
            <a:prstGeom prst="rect">
              <a:avLst/>
            </a:prstGeom>
          </p:spPr>
        </p:pic>
      </p:grpSp>
      <p:sp>
        <p:nvSpPr>
          <p:cNvPr id="12" name="Content Placeholder 2">
            <a:extLst>
              <a:ext uri="{FF2B5EF4-FFF2-40B4-BE49-F238E27FC236}">
                <a16:creationId xmlns:a16="http://schemas.microsoft.com/office/drawing/2014/main" id="{9014AF74-1ABF-BACD-0C3F-154679BAFB50}"/>
              </a:ext>
            </a:extLst>
          </p:cNvPr>
          <p:cNvSpPr>
            <a:spLocks noGrp="1"/>
          </p:cNvSpPr>
          <p:nvPr>
            <p:ph idx="1"/>
          </p:nvPr>
        </p:nvSpPr>
        <p:spPr>
          <a:xfrm>
            <a:off x="495300" y="1262107"/>
            <a:ext cx="11468100" cy="4859294"/>
          </a:xfrm>
        </p:spPr>
        <p:txBody>
          <a:bodyPr>
            <a:normAutofit/>
          </a:bodyPr>
          <a:lstStyle/>
          <a:p>
            <a:r>
              <a:rPr lang="en-IN" b="1" dirty="0">
                <a:latin typeface="Calibri (Body)"/>
              </a:rPr>
              <a:t>Motivation:</a:t>
            </a:r>
          </a:p>
          <a:p>
            <a:pPr>
              <a:buFont typeface="Wingdings" panose="05000000000000000000" pitchFamily="2" charset="2"/>
              <a:buChar char="§"/>
            </a:pPr>
            <a:r>
              <a:rPr lang="en-IN" dirty="0">
                <a:latin typeface="Calibri (Body)"/>
              </a:rPr>
              <a:t>Limitations of traditional methods: Most traditional regime detection models rely on single-asset data and manually engineered features which makes them unable to capture the complex and dynamic nature of financial markets. This creates the need for a more advanced and data-driven approach.</a:t>
            </a:r>
          </a:p>
          <a:p>
            <a:pPr>
              <a:buFont typeface="Wingdings" panose="05000000000000000000" pitchFamily="2" charset="2"/>
              <a:buChar char="§"/>
            </a:pPr>
            <a:r>
              <a:rPr lang="en-IN" dirty="0">
                <a:latin typeface="Calibri (Body)"/>
              </a:rPr>
              <a:t>Importance of cross-asset information: Financial markets are interconnected, and signals from equities, bond yields, VIX, commodities, and cryptocurrencies provide important macroeconomic information. Using cross-asset data allows the model to understand market conditions more accurately compared to a single-asset approach.</a:t>
            </a:r>
          </a:p>
          <a:p>
            <a:pPr>
              <a:buFont typeface="Wingdings" panose="05000000000000000000" pitchFamily="2" charset="2"/>
              <a:buChar char="§"/>
            </a:pPr>
            <a:r>
              <a:rPr lang="en-IN" dirty="0">
                <a:latin typeface="Calibri (Body)"/>
              </a:rPr>
              <a:t>Using LSTM for better feature learning: LSTM networks can learn nonlinear temporal patterns from sequences of financial data automatically. Instead of using raw features, the LSTM processes 30-day windows of multiple asset classes and converts them into a dense latent representation that captures both temporal patterns and cross-asset relationships, making regime detection more stable and informative.</a:t>
            </a:r>
          </a:p>
          <a:p>
            <a:pPr marL="0" indent="0">
              <a:buNone/>
            </a:pPr>
            <a:endParaRPr lang="en-IN" dirty="0">
              <a:latin typeface="Calibri (Body)"/>
            </a:endParaRPr>
          </a:p>
        </p:txBody>
      </p:sp>
    </p:spTree>
    <p:extLst>
      <p:ext uri="{BB962C8B-B14F-4D97-AF65-F5344CB8AC3E}">
        <p14:creationId xmlns:p14="http://schemas.microsoft.com/office/powerpoint/2010/main" val="267036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86EA4-504E-4B44-A0FA-89B818D6CC7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ABD31F17-3A7D-4332-FF96-CD031DA0293F}"/>
              </a:ext>
            </a:extLst>
          </p:cNvPr>
          <p:cNvGrpSpPr/>
          <p:nvPr/>
        </p:nvGrpSpPr>
        <p:grpSpPr>
          <a:xfrm>
            <a:off x="0" y="-8877"/>
            <a:ext cx="12192000" cy="1128532"/>
            <a:chOff x="0" y="1"/>
            <a:chExt cx="12192000" cy="1128532"/>
          </a:xfrm>
        </p:grpSpPr>
        <p:sp>
          <p:nvSpPr>
            <p:cNvPr id="7" name="Title 1">
              <a:extLst>
                <a:ext uri="{FF2B5EF4-FFF2-40B4-BE49-F238E27FC236}">
                  <a16:creationId xmlns:a16="http://schemas.microsoft.com/office/drawing/2014/main" id="{48CE9F7E-6FC5-8134-76B2-E703B2F75801}"/>
                </a:ext>
              </a:extLst>
            </p:cNvPr>
            <p:cNvSpPr txBox="1">
              <a:spLocks/>
            </p:cNvSpPr>
            <p:nvPr/>
          </p:nvSpPr>
          <p:spPr>
            <a:xfrm>
              <a:off x="0" y="4762"/>
              <a:ext cx="12192000" cy="1117645"/>
            </a:xfrm>
            <a:prstGeom prst="rect">
              <a:avLst/>
            </a:prstGeom>
            <a:solidFill>
              <a:schemeClr val="accent5">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Existing work / Literature review:</a:t>
              </a:r>
            </a:p>
          </p:txBody>
        </p:sp>
        <p:pic>
          <p:nvPicPr>
            <p:cNvPr id="8" name="Picture 7" descr="A blue and white logo  AI-generated content may be incorrect.">
              <a:extLst>
                <a:ext uri="{FF2B5EF4-FFF2-40B4-BE49-F238E27FC236}">
                  <a16:creationId xmlns:a16="http://schemas.microsoft.com/office/drawing/2014/main" id="{071D131A-A591-2D82-7001-4C9AE11B9EC4}"/>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064145" y="1"/>
              <a:ext cx="1127848" cy="1128532"/>
            </a:xfrm>
            <a:prstGeom prst="rect">
              <a:avLst/>
            </a:prstGeom>
          </p:spPr>
        </p:pic>
      </p:grpSp>
      <p:sp>
        <p:nvSpPr>
          <p:cNvPr id="12" name="Content Placeholder 2">
            <a:extLst>
              <a:ext uri="{FF2B5EF4-FFF2-40B4-BE49-F238E27FC236}">
                <a16:creationId xmlns:a16="http://schemas.microsoft.com/office/drawing/2014/main" id="{5621886E-B3AF-1B89-B930-F2746655202B}"/>
              </a:ext>
            </a:extLst>
          </p:cNvPr>
          <p:cNvSpPr>
            <a:spLocks noGrp="1"/>
          </p:cNvSpPr>
          <p:nvPr>
            <p:ph idx="1"/>
          </p:nvPr>
        </p:nvSpPr>
        <p:spPr>
          <a:xfrm>
            <a:off x="495300" y="1262107"/>
            <a:ext cx="11468100" cy="4859294"/>
          </a:xfrm>
        </p:spPr>
        <p:txBody>
          <a:bodyPr>
            <a:normAutofit/>
          </a:bodyPr>
          <a:lstStyle/>
          <a:p>
            <a:pPr>
              <a:buFont typeface="Wingdings" panose="05000000000000000000" pitchFamily="2" charset="2"/>
              <a:buChar char="§"/>
            </a:pPr>
            <a:r>
              <a:rPr lang="en-IN" dirty="0">
                <a:latin typeface="Calibri (Body)"/>
              </a:rPr>
              <a:t>Hidden Markov Models in finance: Hidden Markov Models have been widely used in financial econometrics for market regime detection since the work of Hamilton (1989). In most studies, Gaussian HMM is used where each hidden state corresponds to a statistical distribution of returns — for example, bull markets show positive mean with lower variance, while bear markets show negative mean with higher volatility. Research on regime-switching investment strategies also shows that adapting portfolios based on detected regimes can improve performance.</a:t>
            </a:r>
          </a:p>
          <a:p>
            <a:pPr>
              <a:buFont typeface="Wingdings" panose="05000000000000000000" pitchFamily="2" charset="2"/>
              <a:buChar char="§"/>
            </a:pPr>
            <a:r>
              <a:rPr lang="en-IN" dirty="0">
                <a:latin typeface="Calibri (Body)"/>
              </a:rPr>
              <a:t>Use of deep learning for financial time-series: LSTM networks have shown strong performance in modeling long-term temporal dependencies in financial time-series data. Studies such as Liu et al. (2021) explored hybrid models combining LSTM with HMM and other machine learning methods, demonstrating that using learned representations instead of raw financial features can improve the stability and accuracy of regime detection.</a:t>
            </a:r>
          </a:p>
          <a:p>
            <a:pPr>
              <a:buFont typeface="Wingdings" panose="05000000000000000000" pitchFamily="2" charset="2"/>
              <a:buChar char="§"/>
            </a:pPr>
            <a:r>
              <a:rPr lang="en-IN" dirty="0">
                <a:latin typeface="Calibri (Body)"/>
              </a:rPr>
              <a:t>Emergence of hybrid and cross-asset approaches: Recent research, including studies in 2021 and 2024, has proposed hybrid LSTM + HMM frameworks and highlighted the importance of cross-asset information in detecting market regimes. These studies show that regime changes often appear simultaneously across multiple asset classes. However, many existing models still focus mainly on equity markets, leaving a gap for models that incorporate broader signals such as volatility indices, bond yields, commodities, and cryptocurrencies.</a:t>
            </a:r>
          </a:p>
          <a:p>
            <a:pPr marL="0" indent="0">
              <a:buNone/>
            </a:pPr>
            <a:endParaRPr lang="en-IN" dirty="0">
              <a:latin typeface="Calibri (Body)"/>
            </a:endParaRPr>
          </a:p>
        </p:txBody>
      </p:sp>
    </p:spTree>
    <p:extLst>
      <p:ext uri="{BB962C8B-B14F-4D97-AF65-F5344CB8AC3E}">
        <p14:creationId xmlns:p14="http://schemas.microsoft.com/office/powerpoint/2010/main" val="4243342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8C635D8-8C28-BD2F-1F1E-E2E48CB6EE77}"/>
              </a:ext>
            </a:extLst>
          </p:cNvPr>
          <p:cNvGrpSpPr/>
          <p:nvPr/>
        </p:nvGrpSpPr>
        <p:grpSpPr>
          <a:xfrm>
            <a:off x="0" y="-8877"/>
            <a:ext cx="12192000" cy="1128532"/>
            <a:chOff x="0" y="1"/>
            <a:chExt cx="12192000" cy="1128532"/>
          </a:xfrm>
        </p:grpSpPr>
        <p:sp>
          <p:nvSpPr>
            <p:cNvPr id="7" name="Title 1">
              <a:extLst>
                <a:ext uri="{FF2B5EF4-FFF2-40B4-BE49-F238E27FC236}">
                  <a16:creationId xmlns:a16="http://schemas.microsoft.com/office/drawing/2014/main" id="{9D0A2EE0-154E-E948-B676-9A0EC519C2E9}"/>
                </a:ext>
              </a:extLst>
            </p:cNvPr>
            <p:cNvSpPr txBox="1">
              <a:spLocks/>
            </p:cNvSpPr>
            <p:nvPr/>
          </p:nvSpPr>
          <p:spPr>
            <a:xfrm>
              <a:off x="0" y="4762"/>
              <a:ext cx="12192000" cy="1117645"/>
            </a:xfrm>
            <a:prstGeom prst="rect">
              <a:avLst/>
            </a:prstGeom>
            <a:solidFill>
              <a:schemeClr val="accent5">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Existing work / Literature review:</a:t>
              </a:r>
            </a:p>
          </p:txBody>
        </p:sp>
        <p:pic>
          <p:nvPicPr>
            <p:cNvPr id="8" name="Picture 7" descr="A blue and white logo  AI-generated content may be incorrect.">
              <a:extLst>
                <a:ext uri="{FF2B5EF4-FFF2-40B4-BE49-F238E27FC236}">
                  <a16:creationId xmlns:a16="http://schemas.microsoft.com/office/drawing/2014/main" id="{0CA020E2-B0BE-DCB2-B3B3-3798AA4290FF}"/>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064145" y="1"/>
              <a:ext cx="1127848" cy="1128532"/>
            </a:xfrm>
            <a:prstGeom prst="rect">
              <a:avLst/>
            </a:prstGeom>
          </p:spPr>
        </p:pic>
      </p:grpSp>
      <p:sp>
        <p:nvSpPr>
          <p:cNvPr id="12" name="Content Placeholder 2">
            <a:extLst>
              <a:ext uri="{FF2B5EF4-FFF2-40B4-BE49-F238E27FC236}">
                <a16:creationId xmlns:a16="http://schemas.microsoft.com/office/drawing/2014/main" id="{9014AF74-1ABF-BACD-0C3F-154679BAFB50}"/>
              </a:ext>
            </a:extLst>
          </p:cNvPr>
          <p:cNvSpPr>
            <a:spLocks noGrp="1"/>
          </p:cNvSpPr>
          <p:nvPr>
            <p:ph idx="1"/>
          </p:nvPr>
        </p:nvSpPr>
        <p:spPr>
          <a:xfrm>
            <a:off x="495300" y="1262107"/>
            <a:ext cx="11468100" cy="4859294"/>
          </a:xfrm>
        </p:spPr>
        <p:txBody>
          <a:bodyPr>
            <a:normAutofit/>
          </a:bodyPr>
          <a:lstStyle/>
          <a:p>
            <a:r>
              <a:rPr lang="en-IN" b="1" dirty="0">
                <a:latin typeface="Calibri (Body)"/>
              </a:rPr>
              <a:t>Gaps in the existing solutions/work:</a:t>
            </a:r>
          </a:p>
          <a:p>
            <a:pPr>
              <a:buFont typeface="Wingdings" panose="05000000000000000000" pitchFamily="2" charset="2"/>
              <a:buChar char="§"/>
            </a:pPr>
            <a:r>
              <a:rPr lang="en-IN" dirty="0">
                <a:latin typeface="Calibri (Body)"/>
              </a:rPr>
              <a:t>Single-asset focus in traditional models: Most regime detection models rely only on S&amp;P 500 or single-asset data, ignoring signals from other markets. This project addresses this by using cross-asset market data, combining equity indices, volatility indices (VIX), commodities, bond yields, and cryptocurrencies to capture broader macroeconomic signals.</a:t>
            </a:r>
          </a:p>
          <a:p>
            <a:pPr>
              <a:buFont typeface="Wingdings" panose="05000000000000000000" pitchFamily="2" charset="2"/>
              <a:buChar char="§"/>
            </a:pPr>
            <a:r>
              <a:rPr lang="en-IN" dirty="0">
                <a:latin typeface="Calibri (Body)"/>
              </a:rPr>
              <a:t>Lack of temporal learning and weak features: Traditional HMM models treat each observation independently and rely on simple manually engineered features like returns and volatility. This project solves that by using an LSTM network to process 30-day sequences of financial data, allowing the system to learn temporal patterns and deeper representations of market behavior automatically.</a:t>
            </a:r>
          </a:p>
          <a:p>
            <a:pPr>
              <a:buFont typeface="Wingdings" panose="05000000000000000000" pitchFamily="2" charset="2"/>
              <a:buChar char="§"/>
            </a:pPr>
            <a:r>
              <a:rPr lang="en-IN" dirty="0">
                <a:latin typeface="Calibri (Body)"/>
              </a:rPr>
              <a:t>Limited interpretability and validation: Existing approaches often feed raw features directly into HMM and rarely validate detected regimes against real events. In this project, LSTM-generated latent features are used as input to HMM, and the detected regimes are compared with real historical events such as the 2008 financial crisis, the 2020 COVID crash, and the 2021 bull market to verify that the model reflects actual market conditions.</a:t>
            </a:r>
          </a:p>
          <a:p>
            <a:pPr marL="0" indent="0">
              <a:buNone/>
            </a:pPr>
            <a:endParaRPr lang="en-IN" dirty="0">
              <a:latin typeface="Calibri (Body)"/>
            </a:endParaRPr>
          </a:p>
        </p:txBody>
      </p:sp>
    </p:spTree>
    <p:extLst>
      <p:ext uri="{BB962C8B-B14F-4D97-AF65-F5344CB8AC3E}">
        <p14:creationId xmlns:p14="http://schemas.microsoft.com/office/powerpoint/2010/main" val="2670362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8C635D8-8C28-BD2F-1F1E-E2E48CB6EE77}"/>
              </a:ext>
            </a:extLst>
          </p:cNvPr>
          <p:cNvGrpSpPr/>
          <p:nvPr/>
        </p:nvGrpSpPr>
        <p:grpSpPr>
          <a:xfrm>
            <a:off x="0" y="-8877"/>
            <a:ext cx="12192000" cy="1128532"/>
            <a:chOff x="0" y="1"/>
            <a:chExt cx="12192000" cy="1128532"/>
          </a:xfrm>
        </p:grpSpPr>
        <p:sp>
          <p:nvSpPr>
            <p:cNvPr id="7" name="Title 1">
              <a:extLst>
                <a:ext uri="{FF2B5EF4-FFF2-40B4-BE49-F238E27FC236}">
                  <a16:creationId xmlns:a16="http://schemas.microsoft.com/office/drawing/2014/main" id="{9D0A2EE0-154E-E948-B676-9A0EC519C2E9}"/>
                </a:ext>
              </a:extLst>
            </p:cNvPr>
            <p:cNvSpPr txBox="1">
              <a:spLocks/>
            </p:cNvSpPr>
            <p:nvPr/>
          </p:nvSpPr>
          <p:spPr>
            <a:xfrm>
              <a:off x="0" y="4762"/>
              <a:ext cx="12192000" cy="1117645"/>
            </a:xfrm>
            <a:prstGeom prst="rect">
              <a:avLst/>
            </a:prstGeom>
            <a:solidFill>
              <a:schemeClr val="accent5">
                <a:lumMod val="60000"/>
                <a:lumOff val="4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Work Done till date:</a:t>
              </a:r>
            </a:p>
          </p:txBody>
        </p:sp>
        <p:pic>
          <p:nvPicPr>
            <p:cNvPr id="8" name="Picture 7" descr="A blue and white logo  AI-generated content may be incorrect.">
              <a:extLst>
                <a:ext uri="{FF2B5EF4-FFF2-40B4-BE49-F238E27FC236}">
                  <a16:creationId xmlns:a16="http://schemas.microsoft.com/office/drawing/2014/main" id="{0CA020E2-B0BE-DCB2-B3B3-3798AA4290FF}"/>
                </a:ext>
              </a:extLst>
            </p:cNvPr>
            <p:cNvPicPr>
              <a:picLocks noChangeAspect="1"/>
            </p:cNvPicPr>
            <p:nvPr/>
          </p:nvPicPr>
          <p:blipFill>
            <a:blip r:embed="rId3">
              <a:extLst>
                <a:ext uri="{28A0092B-C50C-407E-A947-70E740481C1C}">
                  <a14:useLocalDpi xmlns:a14="http://schemas.microsoft.com/office/drawing/2010/main" val="0"/>
                </a:ext>
              </a:extLst>
            </a:blip>
            <a:srcRect l="30458" r="30286"/>
            <a:stretch>
              <a:fillRect/>
            </a:stretch>
          </p:blipFill>
          <p:spPr>
            <a:xfrm>
              <a:off x="11064145" y="1"/>
              <a:ext cx="1127848" cy="1128532"/>
            </a:xfrm>
            <a:prstGeom prst="rect">
              <a:avLst/>
            </a:prstGeom>
          </p:spPr>
        </p:pic>
      </p:grpSp>
      <p:sp>
        <p:nvSpPr>
          <p:cNvPr id="12" name="Content Placeholder 2">
            <a:extLst>
              <a:ext uri="{FF2B5EF4-FFF2-40B4-BE49-F238E27FC236}">
                <a16:creationId xmlns:a16="http://schemas.microsoft.com/office/drawing/2014/main" id="{9014AF74-1ABF-BACD-0C3F-154679BAFB50}"/>
              </a:ext>
            </a:extLst>
          </p:cNvPr>
          <p:cNvSpPr>
            <a:spLocks noGrp="1"/>
          </p:cNvSpPr>
          <p:nvPr>
            <p:ph idx="1"/>
          </p:nvPr>
        </p:nvSpPr>
        <p:spPr>
          <a:xfrm>
            <a:off x="495300" y="1262107"/>
            <a:ext cx="11468100" cy="4859294"/>
          </a:xfrm>
        </p:spPr>
        <p:txBody>
          <a:bodyPr>
            <a:normAutofit/>
          </a:bodyPr>
          <a:lstStyle/>
          <a:p>
            <a:pPr>
              <a:buFont typeface="Wingdings" panose="05000000000000000000" pitchFamily="2" charset="2"/>
              <a:buChar char="§"/>
            </a:pPr>
            <a:r>
              <a:rPr lang="en-IN" dirty="0">
                <a:latin typeface="Calibri (Body)"/>
              </a:rPr>
              <a:t>Problem Definition and System Design: Analyzed the limitations of traditional market regime detection methods and clearly defined the problem and objectives of the project. Designed a three-stage architecture consisting of cross-asset data integration, LSTM-based feature extraction, and HMM-based regime classification, ensuring each stage contributes meaningfully to the final regime detection process.</a:t>
            </a:r>
          </a:p>
          <a:p>
            <a:pPr>
              <a:buFont typeface="Wingdings" panose="05000000000000000000" pitchFamily="2" charset="2"/>
              <a:buChar char="§"/>
            </a:pPr>
            <a:r>
              <a:rPr lang="en-IN" dirty="0">
                <a:latin typeface="Calibri (Body)"/>
              </a:rPr>
              <a:t>Literature Review: Reviewed existing research on Hidden Markov Models for regime detection, LSTM models for financial time-series analysis, and recent hybrid deep learning approaches. The review identified a clear research gap: very few studies combine cross-asset financial data with LSTM-based representation learning as input to an HMM model.</a:t>
            </a:r>
          </a:p>
          <a:p>
            <a:pPr>
              <a:buFont typeface="Wingdings" panose="05000000000000000000" pitchFamily="2" charset="2"/>
              <a:buChar char="§"/>
            </a:pPr>
            <a:r>
              <a:rPr lang="en-IN" dirty="0">
                <a:latin typeface="Calibri (Body)"/>
              </a:rPr>
              <a:t>Multi-Asset Data Collection: Collected 10 years of historical financial data (2014–2024) using the yfinance API for six assets representing major asset classes: S&amp;P 500, VIX, US 10-year Treasury yield, gold, crude oil, and Bitcoin. This dataset captures different market environments such as the 2018 correction, 2020 COVID crash, and 2021 bull run.</a:t>
            </a:r>
          </a:p>
          <a:p>
            <a:pPr marL="0" indent="0">
              <a:buNone/>
            </a:pPr>
            <a:endParaRPr lang="en-IN" dirty="0">
              <a:latin typeface="Calibri (Body)"/>
            </a:endParaRPr>
          </a:p>
        </p:txBody>
      </p:sp>
    </p:spTree>
    <p:extLst>
      <p:ext uri="{BB962C8B-B14F-4D97-AF65-F5344CB8AC3E}">
        <p14:creationId xmlns:p14="http://schemas.microsoft.com/office/powerpoint/2010/main" val="2670362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80</Words>
  <Application>Microsoft Office PowerPoint</Application>
  <PresentationFormat>Widescreen</PresentationFormat>
  <Paragraphs>42</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(Body)</vt:lpstr>
      <vt:lpstr>Calibri Light</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Manojit Ghose</dc:creator>
  <cp:lastModifiedBy>SANJAY MOULIK</cp:lastModifiedBy>
  <cp:revision>4</cp:revision>
  <dcterms:created xsi:type="dcterms:W3CDTF">2025-09-08T13:03:57Z</dcterms:created>
  <dcterms:modified xsi:type="dcterms:W3CDTF">2026-02-08T05:19:02Z</dcterms:modified>
</cp:coreProperties>
</file>