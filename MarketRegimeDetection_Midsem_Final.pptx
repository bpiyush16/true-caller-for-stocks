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7" r:id="rId2"/>
    <p:sldId id="260" r:id="rId3"/>
    <p:sldId id="264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4" d="100"/>
          <a:sy n="74" d="100"/>
        </p:scale>
        <p:origin x="1042" y="1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39F691-A225-450C-BD8C-7FCF826521BF}" type="datetimeFigureOut">
              <a:rPr lang="en-IN" smtClean="0"/>
              <a:t>11-03-2026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223FA1-4510-41DD-9631-7B540903E10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76002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55F37F-3E36-4677-88FE-31D08A695D7A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768368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55F37F-3E36-4677-88FE-31D08A695D7A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54423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0D1542-9B70-BC2B-9F08-140B74A80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BFF4D2-6C80-A2CC-EAED-B3641FDAED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A753C5-02B9-7A15-D8E5-BE6B6885B2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577CC0-21EA-AF6F-1F6D-58296E6BC7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55F37F-3E36-4677-88FE-31D08A695D7A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24738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16790-5258-C145-D078-37EE5CC521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6020DC-7466-A932-B5FA-02504A6C54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4145FF-9210-F2C1-2448-37141AFD87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9FD05-0299-461C-8121-9386E0C8B94B}" type="datetimeFigureOut">
              <a:rPr lang="en-IN" smtClean="0"/>
              <a:t>11-03-2026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E663A9-C6FB-8B24-3018-AE57F9471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794637-0C6A-4C97-5C22-A059280B4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843E3-566C-4A59-9F0F-5BE5C8F19E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68475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23063-87C4-8E7E-EDE2-88DE01BCE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BFDB1-38E2-468C-0A73-6059269ABA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E457A-72C0-32BE-2FD3-E16E91E65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9FD05-0299-461C-8121-9386E0C8B94B}" type="datetimeFigureOut">
              <a:rPr lang="en-IN" smtClean="0"/>
              <a:t>11-03-2026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2C26AB-B608-AFAC-CCC2-D8B214815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795575-427B-7133-65D0-702AB3620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843E3-566C-4A59-9F0F-5BE5C8F19E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995909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8EB22-96B6-81F7-6D6F-487FB59B8D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41C2EC-FA6A-2D32-4DF2-F6DCCFBBB7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E45FA3-C4A6-C2D4-A9AC-865250237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9FD05-0299-461C-8121-9386E0C8B94B}" type="datetimeFigureOut">
              <a:rPr lang="en-IN" smtClean="0"/>
              <a:t>11-03-2026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95C888-DF0E-D9CA-7264-6175C90BF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8EE776-0052-6FD7-B61F-AA2FE0351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843E3-566C-4A59-9F0F-5BE5C8F19E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377945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8C8AA-9EB5-191E-7541-991C23028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AFCB25-E3DE-6052-09A8-C8CAFAF138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2B8FC9-6F15-38F0-8007-37DB8CEC74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1EF501-287E-8F1C-53BA-8B1500C69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9FD05-0299-461C-8121-9386E0C8B94B}" type="datetimeFigureOut">
              <a:rPr lang="en-IN" smtClean="0"/>
              <a:t>11-03-2026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98696C-51B6-C08E-EEC1-D7C7A5557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C9DC0C-BBD7-BFAA-B152-28674868B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843E3-566C-4A59-9F0F-5BE5C8F19E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182519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121B5-79D2-7B2C-C791-FC9EB7A53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D9014B-FC33-EAB4-4576-3526FA4558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0C5677-1842-69A9-D4B5-D4A0FFB6D2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C29F86-DE07-2ED6-657E-8259CA248C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AE6AFB-0038-3F21-DDAB-EE8E4BC457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966D04-368B-E3A4-2DC9-79A354C479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9FD05-0299-461C-8121-9386E0C8B94B}" type="datetimeFigureOut">
              <a:rPr lang="en-IN" smtClean="0"/>
              <a:t>11-03-2026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FAC324-72A1-38EF-DC80-0D553F9DCB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A3A865-3F86-DD39-018C-22B620F0E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843E3-566C-4A59-9F0F-5BE5C8F19E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73391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1F2E9-AD77-E82D-BE8E-6634C0133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F0B881-A83D-ADE6-2B07-8AB042153C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9FD05-0299-461C-8121-9386E0C8B94B}" type="datetimeFigureOut">
              <a:rPr lang="en-IN" smtClean="0"/>
              <a:t>11-03-2026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6330C8-78D8-7CAD-06FD-26630EA47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30A805-3384-5B28-461D-F07758DD7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843E3-566C-4A59-9F0F-5BE5C8F19E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985401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EAC3F3-EA2B-7051-58C8-A702D0A4A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9FD05-0299-461C-8121-9386E0C8B94B}" type="datetimeFigureOut">
              <a:rPr lang="en-IN" smtClean="0"/>
              <a:t>11-03-2026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D31288-FDFD-FA96-A76B-F0E478B81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32917A-9840-75D8-7279-064497302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843E3-566C-4A59-9F0F-5BE5C8F19E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23091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A89FA-7377-BD9D-19DC-0265D425A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C4E79A-3B40-0511-5F1F-28FB7BB94A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337721-91D2-F6A3-D38C-4BDC0884E0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EE24A1-2BEA-95E8-3ED6-B97400EA25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9FD05-0299-461C-8121-9386E0C8B94B}" type="datetimeFigureOut">
              <a:rPr lang="en-IN" smtClean="0"/>
              <a:t>11-03-2026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96BA76-77D4-E443-6831-96FB42667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1EB9D8-7E45-7003-282C-CE99BD73C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843E3-566C-4A59-9F0F-5BE5C8F19E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63742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D5A76-A7A8-FBC7-C740-34FB701BCC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970D87-E5F9-27A6-DE67-1DF33FCD62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B803AF-B348-1A9A-3A95-2560FFB91A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179B81-9429-0ACC-35BB-ECE333BEE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9FD05-0299-461C-8121-9386E0C8B94B}" type="datetimeFigureOut">
              <a:rPr lang="en-IN" smtClean="0"/>
              <a:t>11-03-2026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DDAE19-1CE7-EFC7-0531-5C9594562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D61CEE-0982-830E-2150-28928DED4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843E3-566C-4A59-9F0F-5BE5C8F19E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648405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278F4-F53F-B78F-AC2F-8B513D826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DCCAC2-7892-EB75-8B95-74E62A6C2A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4F6B09-E76A-84D6-92D8-F5DA5A8F6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9FD05-0299-461C-8121-9386E0C8B94B}" type="datetimeFigureOut">
              <a:rPr lang="en-IN" smtClean="0"/>
              <a:t>11-03-2026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754480-0DA9-C12C-ABE6-9334E9C9F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20ED4C-2F5B-B52A-9B44-D5948E7C9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843E3-566C-4A59-9F0F-5BE5C8F19E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95796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99C509-7E72-525B-CFD7-E9B843EC89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4230E8-FC19-32D5-50D5-94D4BB305E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AC01C7-6E3C-506A-1F03-86833DE13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9FD05-0299-461C-8121-9386E0C8B94B}" type="datetimeFigureOut">
              <a:rPr lang="en-IN" smtClean="0"/>
              <a:t>11-03-2026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D0F01C-A5AF-EAD1-C23E-40F4A6A9C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0062DB-14AB-3DFE-A728-D5CA2123B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843E3-566C-4A59-9F0F-5BE5C8F19E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98755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0C1BE1-9A9E-F8E4-25ED-A4E65918AB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38A641-BDA0-5476-5D78-A47CB40B63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0A3A7E-CA78-393E-4CBB-2FC1984B82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69FD05-0299-461C-8121-9386E0C8B94B}" type="datetimeFigureOut">
              <a:rPr lang="en-IN" smtClean="0"/>
              <a:t>11-03-2026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608830-DD7D-8DF0-C90F-DB7D4340D2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9D0242-EABB-C512-2E6A-711E665CE5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3843E3-566C-4A59-9F0F-5BE5C8F19E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5069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B4E15D-7C0F-103D-C652-7FEDA4F33F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5300" y="1262107"/>
            <a:ext cx="11468100" cy="521735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>
                <a:latin typeface="Calibri (Body)"/>
              </a:rPr>
              <a:t>Introduction:</a:t>
            </a:r>
          </a:p>
          <a:p>
            <a:r>
              <a:rPr lang="en-IN" sz="2000" dirty="0">
                <a:latin typeface="Calibri (Body)"/>
              </a:rPr>
              <a:t>Financial markets shift between regimes like bull, bear, and high-volatility periods. Identifying these regimes helps in risk management, portfolio allocation, and trading decisions.</a:t>
            </a:r>
          </a:p>
          <a:p>
            <a:r>
              <a:rPr lang="en-IN" sz="2000" dirty="0">
                <a:latin typeface="Calibri (Body)"/>
              </a:rPr>
              <a:t>HMM infers hidden market states from observable data like returns and volatility. It uses the Viterbi algorithm to label each time period with the most probable regime.</a:t>
            </a:r>
          </a:p>
          <a:p>
            <a:r>
              <a:rPr lang="en-IN" sz="2000" dirty="0">
                <a:latin typeface="Calibri (Body)"/>
              </a:rPr>
              <a:t>Traditional HMM relies on single-asset manual features, ignores cross-market signals, and cannot capture long-term nonlinear patterns in financial data.</a:t>
            </a:r>
            <a:endParaRPr lang="en-IN" dirty="0">
              <a:latin typeface="Calibri (Body)"/>
            </a:endParaRPr>
          </a:p>
          <a:p>
            <a:pPr marL="0" indent="0">
              <a:buNone/>
            </a:pPr>
            <a:r>
              <a:rPr lang="en-IN" b="1" dirty="0">
                <a:latin typeface="Calibri (Body)"/>
              </a:rPr>
              <a:t>Motivation:</a:t>
            </a:r>
          </a:p>
          <a:p>
            <a:r>
              <a:rPr lang="en-IN" sz="2000" dirty="0">
                <a:latin typeface="Calibri (Body)"/>
              </a:rPr>
              <a:t>Traditional models use only single-asset data and hand-crafted features, making them unable to capture the full complexity and dynamics of modern financial markets.</a:t>
            </a:r>
          </a:p>
          <a:p>
            <a:r>
              <a:rPr lang="en-IN" sz="2000" dirty="0">
                <a:latin typeface="Calibri (Body)"/>
              </a:rPr>
              <a:t>Markets are interconnected — signals from equities, bonds, VIX, commodities, and crypto provide richer macroeconomic context than any single asset alone.</a:t>
            </a:r>
          </a:p>
          <a:p>
            <a:r>
              <a:rPr lang="en-IN" sz="2000" dirty="0">
                <a:latin typeface="Calibri (Body)"/>
              </a:rPr>
              <a:t>LSTM processes 30-day windows across multiple assets and learns a dense latent representation, enabling more stable and accurate regime detection than raw features.</a:t>
            </a:r>
          </a:p>
          <a:p>
            <a:pPr marL="0" indent="0">
              <a:buNone/>
            </a:pPr>
            <a:endParaRPr lang="en-IN" dirty="0">
              <a:latin typeface="Calibri (Body)"/>
            </a:endParaRP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A836EDB-ED8F-3296-E9A3-25FEA0F16EBC}"/>
              </a:ext>
            </a:extLst>
          </p:cNvPr>
          <p:cNvSpPr txBox="1">
            <a:spLocks/>
          </p:cNvSpPr>
          <p:nvPr/>
        </p:nvSpPr>
        <p:spPr>
          <a:xfrm>
            <a:off x="0" y="-4116"/>
            <a:ext cx="12192000" cy="1117645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dirty="0">
                <a:solidFill>
                  <a:schemeClr val="bg1"/>
                </a:solidFill>
              </a:rPr>
              <a:t>Deep Learning-Enhanced Financial Market Regime Detection</a:t>
            </a:r>
          </a:p>
        </p:txBody>
      </p:sp>
      <p:pic>
        <p:nvPicPr>
          <p:cNvPr id="6" name="Picture 5" descr="A blue and white logo  AI-generated content may be incorrect.">
            <a:extLst>
              <a:ext uri="{FF2B5EF4-FFF2-40B4-BE49-F238E27FC236}">
                <a16:creationId xmlns:a16="http://schemas.microsoft.com/office/drawing/2014/main" id="{4143F702-3024-9C8E-72C2-2C3DF86EFD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458" r="30286"/>
          <a:stretch>
            <a:fillRect/>
          </a:stretch>
        </p:blipFill>
        <p:spPr>
          <a:xfrm>
            <a:off x="11064145" y="-8877"/>
            <a:ext cx="1127848" cy="1128532"/>
          </a:xfrm>
          <a:prstGeom prst="rect">
            <a:avLst/>
          </a:prstGeom>
        </p:spPr>
      </p:pic>
      <p:grpSp>
        <p:nvGrpSpPr>
          <p:cNvPr id="91" name="Footer Group"/>
          <p:cNvGrpSpPr/>
          <p:nvPr/>
        </p:nvGrpSpPr>
        <p:grpSpPr>
          <a:xfrm>
            <a:off x="0" y="6480699"/>
            <a:ext cx="12192000" cy="377301"/>
            <a:chOff x="0" y="6261100"/>
            <a:chExt cx="12192000" cy="596900"/>
          </a:xfrm>
        </p:grpSpPr>
        <p:sp>
          <p:nvSpPr>
            <p:cNvPr id="92" name="Footer Name"/>
            <p:cNvSpPr txBox="1">
              <a:spLocks/>
            </p:cNvSpPr>
            <p:nvPr/>
          </p:nvSpPr>
          <p:spPr>
            <a:xfrm>
              <a:off x="0" y="6261100"/>
              <a:ext cx="3286125" cy="59690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txBody>
            <a:bodyPr vert="horz" lIns="91440" tIns="45720" rIns="91440" bIns="45720" rtlCol="0" anchor="ctr"/>
            <a:lstStyle/>
            <a:p>
              <a:r>
                <a:rPr lang="en-IN" sz="1200" b="1" dirty="0"/>
                <a:t>Name: Piyush Bale</a:t>
              </a:r>
            </a:p>
          </p:txBody>
        </p:sp>
        <p:sp>
          <p:nvSpPr>
            <p:cNvPr id="93" name="Footer RollNo"/>
            <p:cNvSpPr txBox="1">
              <a:spLocks/>
            </p:cNvSpPr>
            <p:nvPr/>
          </p:nvSpPr>
          <p:spPr>
            <a:xfrm>
              <a:off x="3286125" y="6261100"/>
              <a:ext cx="3663315" cy="5969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vert="horz" lIns="91440" tIns="45720" rIns="91440" bIns="45720" rtlCol="0" anchor="ctr"/>
            <a:lstStyle/>
            <a:p>
              <a:r>
                <a:rPr lang="en-IN" sz="1200" b="1" dirty="0"/>
                <a:t>Roll No: 2301144</a:t>
              </a:r>
            </a:p>
          </p:txBody>
        </p:sp>
        <p:sp>
          <p:nvSpPr>
            <p:cNvPr id="94" name="Footer Supervisor"/>
            <p:cNvSpPr txBox="1">
              <a:spLocks/>
            </p:cNvSpPr>
            <p:nvPr/>
          </p:nvSpPr>
          <p:spPr>
            <a:xfrm>
              <a:off x="6949440" y="6261100"/>
              <a:ext cx="5242560" cy="5969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vert="horz" lIns="91440" tIns="45720" rIns="91440" bIns="45720" rtlCol="0" anchor="ctr"/>
            <a:lstStyle/>
            <a:p>
              <a:r>
                <a:rPr lang="en-IN" sz="1200" b="1" dirty="0"/>
                <a:t>Supervisor: Ferdous A. Barbhuiya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01574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68C635D8-8C28-BD2F-1F1E-E2E48CB6EE77}"/>
              </a:ext>
            </a:extLst>
          </p:cNvPr>
          <p:cNvGrpSpPr/>
          <p:nvPr/>
        </p:nvGrpSpPr>
        <p:grpSpPr>
          <a:xfrm>
            <a:off x="0" y="-8877"/>
            <a:ext cx="12192000" cy="1128532"/>
            <a:chOff x="0" y="1"/>
            <a:chExt cx="12192000" cy="1128532"/>
          </a:xfrm>
        </p:grpSpPr>
        <p:sp>
          <p:nvSpPr>
            <p:cNvPr id="7" name="Title 1">
              <a:extLst>
                <a:ext uri="{FF2B5EF4-FFF2-40B4-BE49-F238E27FC236}">
                  <a16:creationId xmlns:a16="http://schemas.microsoft.com/office/drawing/2014/main" id="{9D0A2EE0-154E-E948-B676-9A0EC519C2E9}"/>
                </a:ext>
              </a:extLst>
            </p:cNvPr>
            <p:cNvSpPr txBox="1">
              <a:spLocks/>
            </p:cNvSpPr>
            <p:nvPr/>
          </p:nvSpPr>
          <p:spPr>
            <a:xfrm>
              <a:off x="0" y="4762"/>
              <a:ext cx="12192000" cy="1117645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txBody>
            <a:bodyPr vert="horz" lIns="91440" tIns="45720" rIns="91440" bIns="45720" rtlCol="0" anchor="ctr">
              <a:normAutofit fontScale="975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IN" dirty="0"/>
                <a:t>Existing work / Literature review:</a:t>
              </a:r>
            </a:p>
          </p:txBody>
        </p:sp>
        <p:pic>
          <p:nvPicPr>
            <p:cNvPr id="8" name="Picture 7" descr="A blue and white logo  AI-generated content may be incorrect.">
              <a:extLst>
                <a:ext uri="{FF2B5EF4-FFF2-40B4-BE49-F238E27FC236}">
                  <a16:creationId xmlns:a16="http://schemas.microsoft.com/office/drawing/2014/main" id="{0CA020E2-B0BE-DCB2-B3B3-3798AA4290F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0458" r="30286"/>
            <a:stretch>
              <a:fillRect/>
            </a:stretch>
          </p:blipFill>
          <p:spPr>
            <a:xfrm>
              <a:off x="11064145" y="1"/>
              <a:ext cx="1127848" cy="1128532"/>
            </a:xfrm>
            <a:prstGeom prst="rect">
              <a:avLst/>
            </a:prstGeom>
          </p:spPr>
        </p:pic>
      </p:grp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9014AF74-1ABF-BACD-0C3F-154679BAFB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5300" y="1262107"/>
            <a:ext cx="11468100" cy="4859294"/>
          </a:xfrm>
        </p:spPr>
        <p:txBody>
          <a:bodyPr>
            <a:normAutofit/>
          </a:bodyPr>
          <a:lstStyle/>
          <a:p>
            <a:r>
              <a:rPr lang="en-IN" sz="1800" dirty="0">
                <a:latin typeface="Calibri (Body)"/>
              </a:rPr>
              <a:t>HMMs have been widely used for regime detection since Hamilton (1989). Gaussian HMM assigns statistical distributions per state — bull markets show positive mean/low variance, bear markets show negative mean/high volatility.</a:t>
            </a:r>
          </a:p>
          <a:p>
            <a:r>
              <a:rPr lang="en-IN" sz="1800" dirty="0">
                <a:latin typeface="Calibri (Body)"/>
              </a:rPr>
              <a:t>LSTM networks model long-term temporal dependencies well. Liu et al. (2021) showed that learned representations improve regime detection stability and accuracy over raw hand-crafted features.</a:t>
            </a:r>
          </a:p>
          <a:p>
            <a:r>
              <a:rPr lang="en-IN" sz="1800" dirty="0">
                <a:latin typeface="Calibri (Body)"/>
              </a:rPr>
              <a:t>Recent 2021 and 2024 studies propose hybrid LSTM+HMM frameworks. These show regime changes appear simultaneously across asset classes, confirming the value of cross-asset data.</a:t>
            </a:r>
          </a:p>
          <a:p>
            <a:pPr marL="0" indent="0">
              <a:buNone/>
            </a:pPr>
            <a:r>
              <a:rPr lang="en-IN" sz="2400" b="1" dirty="0">
                <a:latin typeface="Calibri (Body)"/>
              </a:rPr>
              <a:t>Gaps in the existing solutions/work</a:t>
            </a:r>
            <a:r>
              <a:rPr lang="en-IN" sz="1800" b="1" dirty="0">
                <a:latin typeface="Calibri (Body)"/>
              </a:rPr>
              <a:t>:</a:t>
            </a:r>
          </a:p>
          <a:p>
            <a:r>
              <a:rPr lang="en-IN" sz="1800" dirty="0">
                <a:latin typeface="Calibri (Body)"/>
              </a:rPr>
              <a:t>Most models use only S&amp;P 500 data, missing signals from bonds, VIX, commodities, and crypto. This project integrates multiple asset classes to capture broader macroeconomic signals.</a:t>
            </a:r>
          </a:p>
          <a:p>
            <a:r>
              <a:rPr lang="en-IN" sz="1800" dirty="0">
                <a:latin typeface="Calibri (Body)"/>
              </a:rPr>
              <a:t> Traditional HMM treats observations independently using manual features. This project uses LSTM to automatically learn temporal patterns from 30-day multi-asset sequences.</a:t>
            </a:r>
          </a:p>
          <a:p>
            <a:r>
              <a:rPr lang="en-US" sz="1800" b="1" dirty="0"/>
              <a:t>Cross-Asset Integration for Richer Market Understanding:</a:t>
            </a:r>
            <a:r>
              <a:rPr lang="en-US" sz="1800" dirty="0"/>
              <a:t> Single-asset models miss the broader picture — combining equities, bonds, VIX, commodities, and crypto captures how stress spreads across markets simultaneously. This multi-asset view provides stronger and more reliable regime signals than any single asset alone.</a:t>
            </a:r>
            <a:endParaRPr lang="en-IN" sz="1800" dirty="0">
              <a:latin typeface="Calibri (Body)"/>
            </a:endParaRPr>
          </a:p>
        </p:txBody>
      </p:sp>
      <p:grpSp>
        <p:nvGrpSpPr>
          <p:cNvPr id="91" name="Footer Group"/>
          <p:cNvGrpSpPr/>
          <p:nvPr/>
        </p:nvGrpSpPr>
        <p:grpSpPr>
          <a:xfrm>
            <a:off x="0" y="6480699"/>
            <a:ext cx="12192000" cy="377301"/>
            <a:chOff x="0" y="6261100"/>
            <a:chExt cx="12192000" cy="596900"/>
          </a:xfrm>
        </p:grpSpPr>
        <p:sp>
          <p:nvSpPr>
            <p:cNvPr id="92" name="Footer Name"/>
            <p:cNvSpPr txBox="1">
              <a:spLocks/>
            </p:cNvSpPr>
            <p:nvPr/>
          </p:nvSpPr>
          <p:spPr>
            <a:xfrm>
              <a:off x="0" y="6261100"/>
              <a:ext cx="3286125" cy="59690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txBody>
            <a:bodyPr vert="horz" lIns="91440" tIns="45720" rIns="91440" bIns="45720" rtlCol="0" anchor="ctr"/>
            <a:lstStyle/>
            <a:p>
              <a:r>
                <a:rPr lang="en-IN" sz="1200" b="1" dirty="0"/>
                <a:t>Name: Piyush Bale</a:t>
              </a:r>
            </a:p>
          </p:txBody>
        </p:sp>
        <p:sp>
          <p:nvSpPr>
            <p:cNvPr id="93" name="Footer RollNo"/>
            <p:cNvSpPr txBox="1">
              <a:spLocks/>
            </p:cNvSpPr>
            <p:nvPr/>
          </p:nvSpPr>
          <p:spPr>
            <a:xfrm>
              <a:off x="3286125" y="6261100"/>
              <a:ext cx="3663315" cy="5969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vert="horz" lIns="91440" tIns="45720" rIns="91440" bIns="45720" rtlCol="0" anchor="ctr"/>
            <a:lstStyle/>
            <a:p>
              <a:r>
                <a:rPr lang="en-IN" sz="1200" b="1" dirty="0"/>
                <a:t>Roll No: 2301144</a:t>
              </a:r>
            </a:p>
          </p:txBody>
        </p:sp>
        <p:sp>
          <p:nvSpPr>
            <p:cNvPr id="94" name="Footer Supervisor"/>
            <p:cNvSpPr txBox="1">
              <a:spLocks/>
            </p:cNvSpPr>
            <p:nvPr/>
          </p:nvSpPr>
          <p:spPr>
            <a:xfrm>
              <a:off x="6949440" y="6261100"/>
              <a:ext cx="5242560" cy="5969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vert="horz" lIns="91440" tIns="45720" rIns="91440" bIns="45720" rtlCol="0" anchor="ctr"/>
            <a:lstStyle/>
            <a:p>
              <a:r>
                <a:rPr lang="en-IN" sz="1200" b="1" dirty="0"/>
                <a:t>Supervisor: Ferdous A. Barbhuiya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70362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86EA4-504E-4B44-A0FA-89B818D6C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BD31F17-3A7D-4332-FF96-CD031DA0293F}"/>
              </a:ext>
            </a:extLst>
          </p:cNvPr>
          <p:cNvGrpSpPr/>
          <p:nvPr/>
        </p:nvGrpSpPr>
        <p:grpSpPr>
          <a:xfrm>
            <a:off x="0" y="-8877"/>
            <a:ext cx="12192000" cy="1128532"/>
            <a:chOff x="0" y="1"/>
            <a:chExt cx="12192000" cy="1128532"/>
          </a:xfrm>
        </p:grpSpPr>
        <p:sp>
          <p:nvSpPr>
            <p:cNvPr id="7" name="Title 1">
              <a:extLst>
                <a:ext uri="{FF2B5EF4-FFF2-40B4-BE49-F238E27FC236}">
                  <a16:creationId xmlns:a16="http://schemas.microsoft.com/office/drawing/2014/main" id="{48CE9F7E-6FC5-8134-76B2-E703B2F75801}"/>
                </a:ext>
              </a:extLst>
            </p:cNvPr>
            <p:cNvSpPr txBox="1">
              <a:spLocks/>
            </p:cNvSpPr>
            <p:nvPr/>
          </p:nvSpPr>
          <p:spPr>
            <a:xfrm>
              <a:off x="0" y="4762"/>
              <a:ext cx="12192000" cy="1117645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txBody>
            <a:bodyPr vert="horz" lIns="91440" tIns="45720" rIns="91440" bIns="45720" rtlCol="0" anchor="ctr">
              <a:normAutofit fontScale="975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IN" dirty="0"/>
                <a:t>Work Done till date:</a:t>
              </a:r>
            </a:p>
          </p:txBody>
        </p:sp>
        <p:pic>
          <p:nvPicPr>
            <p:cNvPr id="8" name="Picture 7" descr="A blue and white logo  AI-generated content may be incorrect.">
              <a:extLst>
                <a:ext uri="{FF2B5EF4-FFF2-40B4-BE49-F238E27FC236}">
                  <a16:creationId xmlns:a16="http://schemas.microsoft.com/office/drawing/2014/main" id="{071D131A-A591-2D82-7001-4C9AE11B9E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0458" r="30286"/>
            <a:stretch>
              <a:fillRect/>
            </a:stretch>
          </p:blipFill>
          <p:spPr>
            <a:xfrm>
              <a:off x="11064145" y="1"/>
              <a:ext cx="1127848" cy="1128532"/>
            </a:xfrm>
            <a:prstGeom prst="rect">
              <a:avLst/>
            </a:prstGeom>
          </p:spPr>
        </p:pic>
      </p:grp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621886E-B3AF-1B89-B930-F274665520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819" y="1366684"/>
            <a:ext cx="11702231" cy="4921865"/>
          </a:xfrm>
        </p:spPr>
        <p:txBody>
          <a:bodyPr>
            <a:normAutofit/>
          </a:bodyPr>
          <a:lstStyle/>
          <a:p>
            <a:r>
              <a:rPr lang="en-IN" sz="1800" dirty="0">
                <a:latin typeface="Calibri (Body)"/>
              </a:rPr>
              <a:t>Problem Definition and System Design: Defined project objectives and designed a three-stage pipeline — cross-asset data integration, LSTM-based feature extraction, and HMM-based regime classification.</a:t>
            </a:r>
          </a:p>
          <a:p>
            <a:r>
              <a:rPr lang="en-IN" sz="1800" dirty="0">
                <a:latin typeface="Calibri (Body)"/>
              </a:rPr>
              <a:t>Literature Review: Reviewed HMM, LSTM, and hybrid deep learning approaches. Confirmed a clear gap: no existing study combines cross-asset data with LSTM-based features as direct HMM input.</a:t>
            </a:r>
          </a:p>
          <a:p>
            <a:r>
              <a:rPr lang="en-IN" sz="1800" dirty="0">
                <a:latin typeface="Calibri (Body)"/>
              </a:rPr>
              <a:t>Multi-Asset Data Collection: Collected 10 years of data (2014–2024) via yfinance for S&amp;P 500, VIX, US 10-year Treasury yield, gold, crude oil, and Bitcoin, covering major market events.</a:t>
            </a:r>
          </a:p>
          <a:p>
            <a:r>
              <a:rPr lang="en-US" sz="1800" dirty="0"/>
              <a:t>Working on Normalizing six asset return series using </a:t>
            </a:r>
            <a:r>
              <a:rPr lang="en-US" sz="1800" dirty="0" err="1"/>
              <a:t>MinMaxScaler</a:t>
            </a:r>
            <a:r>
              <a:rPr lang="en-US" sz="1800" dirty="0"/>
              <a:t> and creating 30-day sliding windows (2469 × 30 × 6) as input. Building a 2-layer LSTM in </a:t>
            </a:r>
            <a:r>
              <a:rPr lang="en-US" sz="1800" dirty="0" err="1"/>
              <a:t>PyTorch</a:t>
            </a:r>
            <a:r>
              <a:rPr lang="en-US" sz="1800" dirty="0"/>
              <a:t> with hidden size 64 and autoencoder objective to learn 64-dim latent market representations.</a:t>
            </a:r>
            <a:endParaRPr lang="en-IN" sz="1800" dirty="0">
              <a:latin typeface="Calibri (Body)"/>
            </a:endParaRPr>
          </a:p>
        </p:txBody>
      </p:sp>
      <p:grpSp>
        <p:nvGrpSpPr>
          <p:cNvPr id="91" name="Footer Group"/>
          <p:cNvGrpSpPr/>
          <p:nvPr/>
        </p:nvGrpSpPr>
        <p:grpSpPr>
          <a:xfrm>
            <a:off x="0" y="6480699"/>
            <a:ext cx="12192000" cy="377301"/>
            <a:chOff x="0" y="6261100"/>
            <a:chExt cx="12192000" cy="596900"/>
          </a:xfrm>
        </p:grpSpPr>
        <p:sp>
          <p:nvSpPr>
            <p:cNvPr id="92" name="Footer Name"/>
            <p:cNvSpPr txBox="1">
              <a:spLocks/>
            </p:cNvSpPr>
            <p:nvPr/>
          </p:nvSpPr>
          <p:spPr>
            <a:xfrm>
              <a:off x="0" y="6261100"/>
              <a:ext cx="3286125" cy="59690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txBody>
            <a:bodyPr vert="horz" lIns="91440" tIns="45720" rIns="91440" bIns="45720" rtlCol="0" anchor="ctr"/>
            <a:lstStyle/>
            <a:p>
              <a:r>
                <a:rPr lang="en-IN" sz="1200" b="1" dirty="0"/>
                <a:t>Name: Piyush Bale</a:t>
              </a:r>
            </a:p>
          </p:txBody>
        </p:sp>
        <p:sp>
          <p:nvSpPr>
            <p:cNvPr id="93" name="Footer RollNo"/>
            <p:cNvSpPr txBox="1">
              <a:spLocks/>
            </p:cNvSpPr>
            <p:nvPr/>
          </p:nvSpPr>
          <p:spPr>
            <a:xfrm>
              <a:off x="3286125" y="6261100"/>
              <a:ext cx="3663315" cy="5969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vert="horz" lIns="91440" tIns="45720" rIns="91440" bIns="45720" rtlCol="0" anchor="ctr"/>
            <a:lstStyle/>
            <a:p>
              <a:r>
                <a:rPr lang="en-IN" sz="1200" b="1" dirty="0"/>
                <a:t>Roll No: 2301144</a:t>
              </a:r>
            </a:p>
          </p:txBody>
        </p:sp>
        <p:sp>
          <p:nvSpPr>
            <p:cNvPr id="94" name="Footer Supervisor"/>
            <p:cNvSpPr txBox="1">
              <a:spLocks/>
            </p:cNvSpPr>
            <p:nvPr/>
          </p:nvSpPr>
          <p:spPr>
            <a:xfrm>
              <a:off x="6949440" y="6261100"/>
              <a:ext cx="5242560" cy="5969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vert="horz" lIns="91440" tIns="45720" rIns="91440" bIns="45720" rtlCol="0" anchor="ctr"/>
            <a:lstStyle/>
            <a:p>
              <a:r>
                <a:rPr lang="en-IN" sz="1200" b="1" dirty="0"/>
                <a:t>Supervisor: Ferdous A. Barbhuiya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433424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580</Words>
  <Application>Microsoft Office PowerPoint</Application>
  <PresentationFormat>Widescreen</PresentationFormat>
  <Paragraphs>34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(Body)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Manojit Ghose</dc:creator>
  <cp:lastModifiedBy>PIYUSH BALE</cp:lastModifiedBy>
  <cp:revision>5</cp:revision>
  <dcterms:created xsi:type="dcterms:W3CDTF">2025-09-08T13:03:57Z</dcterms:created>
  <dcterms:modified xsi:type="dcterms:W3CDTF">2026-03-11T10:54:43Z</dcterms:modified>
</cp:coreProperties>
</file>